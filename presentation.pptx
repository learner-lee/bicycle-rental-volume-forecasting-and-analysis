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743200"/>
            <a:ext cx="2560320" cy="2560320"/>
          </a:xfrm>
          <a:prstGeom prst="ellipse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3657600"/>
            <a:ext cx="1371600" cy="13716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0"/>
            <a:ext cx="54864" cy="5143500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502920"/>
            <a:ext cx="2651760" cy="3108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749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 ·  数据挖掘课程展示  ·  Group Project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987552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我来当老板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基于决策树的共享单车需求预测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02920" y="2999232"/>
            <a:ext cx="5943600" cy="36576"/>
          </a:xfrm>
          <a:prstGeom prst="rect">
            <a:avLst/>
          </a:prstGeom>
          <a:solidFill>
            <a:srgbClr val="00B4D8">
              <a:alpha val="45000"/>
            </a:srgbClr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2724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目标年级：中三（九年级）  ·  </a:t>
            </a:r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演讲时长：18 分钟  ·  </a:t>
            </a:r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INT6068  Neural Networks and Deep Learning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  ·  数据挖掘  ·  课程设计  ·  课堂活动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课程大纲  · 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02336" y="960120"/>
            <a:ext cx="1920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2336" y="960120"/>
            <a:ext cx="19202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11556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02336" y="20116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02336" y="2487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3816" y="2926080"/>
            <a:ext cx="1097280" cy="27432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02336" y="35661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95728" y="960120"/>
            <a:ext cx="1920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95728" y="960120"/>
            <a:ext cx="192024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111556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2395728" y="20116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数据挖掘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395728" y="2487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07208" y="2926080"/>
            <a:ext cx="1097280" cy="27432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395728" y="35661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0" y="960120"/>
            <a:ext cx="1920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960120"/>
            <a:ext cx="192024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111556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4389120" y="20116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课程设计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389120" y="2487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Design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0600" y="2926080"/>
            <a:ext cx="1097280" cy="27432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389120" y="35661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82512" y="960120"/>
            <a:ext cx="1920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82512" y="960120"/>
            <a:ext cx="19202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111556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600" dirty="0"/>
          </a:p>
        </p:txBody>
      </p:sp>
      <p:sp>
        <p:nvSpPr>
          <p:cNvPr id="31" name="Text 29"/>
          <p:cNvSpPr/>
          <p:nvPr/>
        </p:nvSpPr>
        <p:spPr>
          <a:xfrm>
            <a:off x="6382512" y="20116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课堂活动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382512" y="2487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793992" y="2926080"/>
            <a:ext cx="1097280" cy="274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382512" y="35661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min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02336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总演讲时间：18 分钟  |  Q&amp;A：2 分钟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0" y="-457200"/>
            <a:ext cx="42062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1430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94460"/>
            <a:ext cx="11430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 ·  15%  ·  ~3 min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数据集介绍 — UCI Bike Sharing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4736592"/>
            <a:ext cx="128016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45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7315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05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17,379 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" y="1435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数据总量  ·  小时级骑行记录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20240"/>
            <a:ext cx="7315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65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– 2012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6928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时间跨度  ·  华盛顿特区 Capital Bikeshare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7315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个特征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6928" y="3355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特征维度  ·  气象 / 时间 / 季节等多维特征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40480"/>
            <a:ext cx="7315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886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: 30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66928" y="4315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 / 测试集比例  ·  按时间序列划分，模拟真实预测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960120"/>
            <a:ext cx="4297680" cy="3520440"/>
          </a:xfrm>
          <a:prstGeom prst="rect">
            <a:avLst/>
          </a:prstGeom>
          <a:solidFill>
            <a:srgbClr val="EBF8FD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192274"/>
            <a:ext cx="4023360" cy="176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【图表占位】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每日租赁量趋势图（2011–2012）
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建议使用 Dashboard 页面截图替换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数据探索关键发现  ·  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4736592"/>
            <a:ext cx="128016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45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87552"/>
            <a:ext cx="73152" cy="16276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0972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🌡️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43000" y="1097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温度驱动需求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151790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租赁量与温度正相关（r ≈ 0.40）；最适骑行温度 20–35°C，超过 38°C 后需求回落。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987552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87552"/>
            <a:ext cx="73152" cy="16276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0972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🕐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40680" y="1097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双峰通勤规律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40680" y="151790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工作日呈早高峰（8点）和晚高峰（17–18点），休息日则呈 10–15 点单峰休闲分布。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798064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98064"/>
            <a:ext cx="73152" cy="16276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90779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🌧️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43000" y="29077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天气决定性影响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332841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晴天租赁量约为大雨 / 大雪天气的 10 倍，天气是用户出行决策最直接的外部变量。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798064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798064"/>
            <a:ext cx="73152" cy="16276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90779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40680" y="29077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平台高速增长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40680" y="332841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年总租赁量较 2011 年增长约 64%，注册用户贡献约 80% 的总租赁量。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0" y="-457200"/>
            <a:ext cx="42062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1430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94460"/>
            <a:ext cx="11430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数据挖掘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 ·  15%  ·  ~3 min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决策树核心概念  ·  Decision Tree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4736592"/>
            <a:ext cx="12801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45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数据挖掘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73152" cy="10789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515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根节点  Root Node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4904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第一个判断问题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如：「温度 &gt; 25°C 吗？」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2199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21992"/>
            <a:ext cx="73152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13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  Branches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275234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 Yes  /  否 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对应不同特征值的路径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483864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83864"/>
            <a:ext cx="73152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5753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叶子节点  Leaf Node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401421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最终预测结果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如：「需求爆满」或「需求冷清」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1005840"/>
            <a:ext cx="2377440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100584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 &gt; 25°C 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1481328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1481328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938528"/>
            <a:ext cx="1463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164592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71232" y="164592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 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57800" y="1938528"/>
            <a:ext cx="155448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193852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工作日 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23760" y="1938528"/>
            <a:ext cx="1554480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93852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 需求冷清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94960" y="2377440"/>
            <a:ext cx="0" cy="3840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2377440"/>
            <a:ext cx="0" cy="3840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94960" y="2761488"/>
            <a:ext cx="1280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0" y="2761488"/>
            <a:ext cx="146304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276148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需求爆满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92240" y="2761488"/>
            <a:ext cx="146304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276148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需求一般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120640" y="42793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信息增益 = 每次分裂后数据「纯度」的提升量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机器学习模型性能对比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4736592"/>
            <a:ext cx="12801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45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数据挖掘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029200" cy="3520440"/>
          </a:xfrm>
          <a:prstGeom prst="rect">
            <a:avLst/>
          </a:prstGeom>
          <a:solidFill>
            <a:srgbClr val="EBF8FD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92274"/>
            <a:ext cx="4754880" cy="176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【图表占位】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五种模型 R² &amp; RMSE 对比柱状图
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建议使用 Summary 页面截图替换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0" y="960120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15000" y="10058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10149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3075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0.950  ·  RMSE ≈ 53.4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0" y="1645920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15000" y="1691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17007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梯度提升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9933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0.930  ·  RMSE ≈ 63.2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0" y="2331720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15000" y="2377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3865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随机森林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6791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0.920  ·  RMSE ≈ 67.8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0" y="3017520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15000" y="3063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30723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岭回归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33649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0.730  ·  RMSE ≈ 124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0" y="3703320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15000" y="37490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17920" y="37581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线性回归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40507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0.730  ·  RMSE ≈ 124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0" y="4480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Lunch 定理：没有任何模型在所有问题上都最优，选型需权衡精度、速度与可解释性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B2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0" y="-457200"/>
            <a:ext cx="42062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14300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94460"/>
            <a:ext cx="11430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课程设计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Design  ·  35%  ·  ~6 min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学习成果  ·  Learning Outcomes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4736592"/>
            <a:ext cx="128016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45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课程设计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06908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149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🌆  科学 · 城市研究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1453896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了解环境因素（温度、湿度、天气）对城市交通的实际影响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198424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掌握时间因素（工作日 vs 节假日）如何改变出行模式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60120"/>
            <a:ext cx="40690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0149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技术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28032" y="1453896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理解数据可视化如何帮助从原始数据中发现规律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198424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认识机器学习与数据挖掘的基本概念和应用场景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4069080" cy="40233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895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工程 · 系统思维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3328416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将真实商业问题（调度不当）转化为可解决的数据问题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0352" y="385876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体验算法如何量化优化共享单车的运营效率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834640"/>
            <a:ext cx="406908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8895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数学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28032" y="3328416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If-Then 逻辑规则构建决策树模型（无需复杂公式）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85876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直觉性理解信息增益与数据分类纯度的概念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课程结构总览 — 40 分钟时间线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4736592"/>
            <a:ext cx="128016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45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课程设计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2633472"/>
            <a:ext cx="822960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482596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87168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2304288"/>
            <a:ext cx="0" cy="201168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" y="1024128"/>
            <a:ext cx="1371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" y="1024128"/>
            <a:ext cx="13716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" y="115214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竞猜游戏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" y="1554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" y="1847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破冰引入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2482596"/>
            <a:ext cx="329184" cy="32918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2487168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87752" y="2825496"/>
            <a:ext cx="0" cy="201168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1952" y="3044952"/>
            <a:ext cx="1371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01952" y="3044952"/>
            <a:ext cx="13716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01952" y="317296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数据侦探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01952" y="357530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01952" y="38679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图表探秘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2482596"/>
            <a:ext cx="329184" cy="32918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2487168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62272" y="2304288"/>
            <a:ext cx="0" cy="201168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76472" y="1024128"/>
            <a:ext cx="1371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76472" y="1024128"/>
            <a:ext cx="1371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76472" y="115214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概念讲解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76472" y="1554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76472" y="1847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决策树入门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2482596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487168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36792" y="2825496"/>
            <a:ext cx="0" cy="201168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50992" y="3044952"/>
            <a:ext cx="1371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50992" y="3044952"/>
            <a:ext cx="13716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317296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老板挑战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650992" y="357530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50992" y="38679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核心活动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09560" y="248259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09560" y="2487168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074152" y="2304288"/>
            <a:ext cx="0" cy="201168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88352" y="1024128"/>
            <a:ext cx="1371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388352" y="1024128"/>
            <a:ext cx="13716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115214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巅峰对决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388352" y="1554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388352" y="1847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测试与总结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" y="4645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合计：40 分钟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教学材料设计  ·  Teaching Materials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4736592"/>
            <a:ext cx="128016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45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课程设计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2697480" cy="8686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🗂️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样本卡  ×  20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红色 = 需求爆满（高租赁）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蓝色 = 需求冷清（低租赁）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包含温度、天气、工作日等特征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4048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真实数据驱动，增加可信度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96012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960120"/>
            <a:ext cx="269748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0058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00400" y="144475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条件卡（判断节点）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37560" y="19202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「温度 &gt; 25°C 吗？」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5603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「今天是工作日吗？」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2004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「天气好吗？」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84048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学生选卡片拼接决策树，零编程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96012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960120"/>
            <a:ext cx="269748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0058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035040" y="144475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测试卡  ×  5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72200" y="19202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全新未见的数据样本（测试集）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25603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各组用自己的决策树做预测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32004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激励竞争，提升投入感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384048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对应现实中「模型泛化」概念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课程设计亮点  ·  Design Highlights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4736592"/>
            <a:ext cx="128016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45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课程设计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7315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698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不插电  Unplugged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无需电脑，用物理卡片完成训练→测试→评估的完整ML流程。降低技术门槛，让全体同学都能参与建模。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73152" cy="1691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0698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 角色代入  Roleplay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64608" y="152704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「我来当老板」情境设计，学生以运营顾问身份解决真实商业问题，大幅提升动机与课堂投入感。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73152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443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竞争机制  Gamification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340156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组间对抗 + 测试卡大考验，测试准确率高的小组赢得奖励。将课堂变成游戏，强化正向反馈循环。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834640"/>
            <a:ext cx="73152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9443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数据驱动  Data-Led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64608" y="340156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先做数据侦探再建模，体验从原始数据→可视化探索→算法建模的完整数据科学思维链。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0" y="-457200"/>
            <a:ext cx="42062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14300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94460"/>
            <a:ext cx="11430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课堂活动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Activities  ·  35%  ·  ~6 min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活动 1  ·  交通工具竞猜游戏（破冰）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4736592"/>
            <a:ext cx="128016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45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课堂活动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0" y="27432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2834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5 min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0642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07899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教师宣布本节课与一种交通工具有关，不透露答案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" y="1481328"/>
            <a:ext cx="0" cy="420624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760" y="198424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9339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1965960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学生轮流提问「是 / 否」问题（如：它有轮子吗？）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7784" y="2368296"/>
            <a:ext cx="0" cy="420624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803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285292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教师同步在黑板上画出是否分支逻辑图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" y="3255264"/>
            <a:ext cx="0" cy="420624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65760" y="3758184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6732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3739896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猜出「自行车」的学生获奖，教师引出共享单车老板情境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960120"/>
            <a:ext cx="3703320" cy="3611880"/>
          </a:xfrm>
          <a:prstGeom prst="rect">
            <a:avLst/>
          </a:prstGeom>
          <a:solidFill>
            <a:srgbClr val="EBF8F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960120"/>
            <a:ext cx="370332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9784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学习目标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150876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体验「是/否」二分类决策的核心逻辑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213055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在游戏中无意识运行决策树推理过程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275234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为正式学习决策树概念搭建认知脚手架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337413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通过竞猜激活课堂氛围，打破陌生感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74920" y="4160520"/>
            <a:ext cx="3703320" cy="4114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417880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「太棒了！现在你们要帮我的共享单车公司解决调度问题！」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活动 2  ·  数据侦探任务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4736592"/>
            <a:ext cx="128016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45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课堂活动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0" y="27432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2834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7 min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4846320" cy="3520440"/>
          </a:xfrm>
          <a:prstGeom prst="rect">
            <a:avLst/>
          </a:prstGeom>
          <a:solidFill>
            <a:srgbClr val="EBF8FD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92274"/>
            <a:ext cx="4572000" cy="176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【图表占位】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分发给学生的可视化图表（时段分布 / 温度相关 / 天气影响）
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建议截取 Dashboard 页面图表打印 / 投影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0" y="960120"/>
            <a:ext cx="329184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9784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学生预期发现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0" y="1536192"/>
            <a:ext cx="3291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1536192"/>
            <a:ext cx="73152" cy="69494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7190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黄金骑行温度：20–35°C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2359152"/>
            <a:ext cx="3291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2359152"/>
            <a:ext cx="73152" cy="6949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5420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工作日出现早晚双高峰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0" y="3182112"/>
            <a:ext cx="3291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3182112"/>
            <a:ext cx="73152" cy="6949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3649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大雨天气租赁量骤降 90%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0" y="4005072"/>
            <a:ext cx="3291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4005072"/>
            <a:ext cx="73152" cy="6949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41879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秋季是全年最高需求季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活动 3  ·  概念讲解：什么是决策树？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4736592"/>
            <a:ext cx="128016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45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课堂活动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0" y="27432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2834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5 min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4114800" cy="713232"/>
          </a:xfrm>
          <a:prstGeom prst="rect">
            <a:avLst/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回顾活动1：黑板上的分支图就是决策树！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1280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74520"/>
            <a:ext cx="128016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933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根节点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2816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127248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第一个判断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「温度 &gt; 25°C？」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783080" y="1874520"/>
            <a:ext cx="1280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83080" y="1874520"/>
            <a:ext cx="12801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19933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8308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2816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3127248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 / 否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两条路径分叉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1874520"/>
            <a:ext cx="1280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874520"/>
            <a:ext cx="12801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9933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🍃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0040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叶子节点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00400" y="2816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0" y="3127248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最终结果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「爆满 / 冷清」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83480" y="960120"/>
            <a:ext cx="3794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83480" y="960120"/>
            <a:ext cx="379476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97840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生活例子：周末出去玩吗？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40680" y="1572768"/>
            <a:ext cx="1920240" cy="402336"/>
          </a:xfrm>
          <a:prstGeom prst="rect">
            <a:avLst/>
          </a:prstGeom>
          <a:solidFill>
            <a:srgbClr val="E3F2FD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15819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天气好吗？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0" y="1975104"/>
            <a:ext cx="0" cy="3474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1975104"/>
            <a:ext cx="0" cy="3474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0" y="2322576"/>
            <a:ext cx="1371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94960" y="2322576"/>
            <a:ext cx="1463040" cy="402336"/>
          </a:xfrm>
          <a:prstGeom prst="rect">
            <a:avLst/>
          </a:prstGeom>
          <a:solidFill>
            <a:srgbClr val="E8F5E9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23317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作业写完了？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49440" y="2322576"/>
            <a:ext cx="1463040" cy="402336"/>
          </a:xfrm>
          <a:prstGeom prst="rect">
            <a:avLst/>
          </a:prstGeom>
          <a:solidFill>
            <a:srgbClr val="FFEBEE"/>
          </a:solidFill>
          <a:ln w="9525">
            <a:solidFill>
              <a:srgbClr val="D32F2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23317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在家宅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60720" y="2724912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0" y="2724912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60720" y="3044952"/>
            <a:ext cx="8229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40680" y="3044952"/>
            <a:ext cx="13716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0680" y="30540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出发！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46520" y="3044952"/>
            <a:ext cx="137160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30540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学习完再说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0" y="358444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「决策树把我们日常的 If-Then 推理变成算法」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活动 4  ·  「老板大挑战」— 物理数据分类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4736592"/>
            <a:ext cx="128016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45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课堂活动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0" y="274320"/>
            <a:ext cx="1005840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2834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15 min ★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93852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60120"/>
            <a:ext cx="193852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7824" y="1051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首次分裂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664208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基于活动2的发现，选一张条件卡，将 20 张样本卡物理分成两堆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350008" y="2103120"/>
            <a:ext cx="16459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960120"/>
            <a:ext cx="193852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960120"/>
            <a:ext cx="1938528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026664" y="1051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检查纯度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1664208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观察每堆红/蓝比例——颜色越单一=分类效果越好（信息增益↑）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98848" y="2103120"/>
            <a:ext cx="16459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960120"/>
            <a:ext cx="193852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60120"/>
            <a:ext cx="1938528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75504" y="1051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迭代循环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1664208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对颜色不纯的卡堆继续选新的条件卡分裂，直到两类尽可能清晰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47688" y="2103120"/>
            <a:ext cx="16459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960120"/>
            <a:ext cx="193852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960120"/>
            <a:ext cx="1938528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24344" y="1051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绘制树形图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1664208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在海报纸上画出分类路径 → 完成决策树「训练」！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" y="3886200"/>
            <a:ext cx="8412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31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测试大考验：老师持有 5 张全新测试卡，各组用自己的决策树预测——准确率最高的小组赢得奖励！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活动 5  ·  巅峰对决与课程总结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4736592"/>
            <a:ext cx="128016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45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课堂活动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0" y="274320"/>
            <a:ext cx="1005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2834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8 min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60120"/>
            <a:ext cx="4114800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149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测试集大考验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52704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两组上台展示海报 → 老师逐张出示测试卡 → 各组套用自己的决策树预测 → 准确率高者获胜！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4114800" cy="429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895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AI vs 人类对比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40156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展示计算机真实生成的决策树，讨论人类和机器如何通过识别规律来学习和做决策。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60120"/>
            <a:ext cx="4023360" cy="429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97840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拓展思考：生活中的决策树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1508760"/>
            <a:ext cx="37307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电子邮件垃圾过滤（垃圾 / 正常分类）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2075688"/>
            <a:ext cx="37307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医疗疾病诊断（症状分类辅助决策）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2642616"/>
            <a:ext cx="37307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流媒体内容推荐（用户偏好分类）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3209544"/>
            <a:ext cx="37307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交通信号灯智能控制（流量预测）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3776472"/>
            <a:ext cx="37307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银行风控反欺诈检测（交易分类）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651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小组成员贡献  ·  Group Contributions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9748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078992"/>
            <a:ext cx="685800" cy="68580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09728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 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30428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 &amp; 可视化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2697480"/>
            <a:ext cx="16916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346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数据集清洗与处理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可视化开发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关键发现总结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914400"/>
            <a:ext cx="269748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14400"/>
            <a:ext cx="2697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1078992"/>
            <a:ext cx="685800" cy="685800"/>
          </a:xfrm>
          <a:prstGeom prst="ellipse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09728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46120" y="190195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 B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46120" y="230428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机器学习建模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749040" y="2697480"/>
            <a:ext cx="16916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8346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五种模型训练与调优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4747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参数优化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41148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模型性能评估报告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914400"/>
            <a:ext cx="269748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914400"/>
            <a:ext cx="269748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1078992"/>
            <a:ext cx="685800" cy="685800"/>
          </a:xfrm>
          <a:prstGeom prst="ellipse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109728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26480" y="190195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 C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126480" y="230428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课程设计 &amp; 活动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29400" y="2697480"/>
            <a:ext cx="16916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8346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课程方案设计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4747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物理卡片材料制作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41148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课堂活动流程规划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请在提交前按实际情况修改姓名与贡献内容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029200" cy="50292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4114800" cy="4114800"/>
          </a:xfrm>
          <a:prstGeom prst="ellipse">
            <a:avLst/>
          </a:prstGeom>
          <a:solidFill>
            <a:srgbClr val="FF6B35">
              <a:alpha val="8000"/>
            </a:srgbClr>
          </a:solidFill>
          <a:ln w="12700">
            <a:solidFill>
              <a:srgbClr val="FF6B35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395728"/>
            <a:ext cx="1938528" cy="59436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32304"/>
            <a:ext cx="1938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17K+ 数据记录驱动分析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2032" y="2395728"/>
            <a:ext cx="1938528" cy="59436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2432304"/>
            <a:ext cx="1938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决策树 · 5 种 ML 模型对比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6864" y="2395728"/>
            <a:ext cx="1938528" cy="59436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2432304"/>
            <a:ext cx="1938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中三 STEM 不插电课程设计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11696" y="2395728"/>
            <a:ext cx="1938528" cy="59436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1696" y="2432304"/>
            <a:ext cx="19385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5 段式互动课堂活动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101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 ·  欢迎提问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7200" y="4343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INT6068  Neural Networks and Deep Learning  ·  Group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我来当老板：共享单车需求预测 STEM 课程展示</dc:title>
  <dc:subject>PptxGenJS Presentation</dc:subject>
  <dc:creator>PptxGenJS</dc:creator>
  <cp:lastModifiedBy>PptxGenJS</cp:lastModifiedBy>
  <cp:revision>1</cp:revision>
  <dcterms:created xsi:type="dcterms:W3CDTF">2026-03-27T09:27:51Z</dcterms:created>
  <dcterms:modified xsi:type="dcterms:W3CDTF">2026-03-27T09:27:51Z</dcterms:modified>
</cp:coreProperties>
</file>